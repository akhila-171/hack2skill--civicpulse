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115568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682496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2249424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6" name="Shape 4"/>
          <p:cNvSpPr/>
          <p:nvPr/>
        </p:nvSpPr>
        <p:spPr>
          <a:xfrm>
            <a:off x="9162288" y="548640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7" name="Shape 5"/>
          <p:cNvSpPr/>
          <p:nvPr/>
        </p:nvSpPr>
        <p:spPr>
          <a:xfrm>
            <a:off x="9162288" y="1115568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8" name="Shape 6"/>
          <p:cNvSpPr/>
          <p:nvPr/>
        </p:nvSpPr>
        <p:spPr>
          <a:xfrm>
            <a:off x="9162288" y="1682496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9" name="Shape 7"/>
          <p:cNvSpPr/>
          <p:nvPr/>
        </p:nvSpPr>
        <p:spPr>
          <a:xfrm>
            <a:off x="9162288" y="2249424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0" name="Shape 8"/>
          <p:cNvSpPr/>
          <p:nvPr/>
        </p:nvSpPr>
        <p:spPr>
          <a:xfrm>
            <a:off x="9729216" y="548640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1" name="Shape 9"/>
          <p:cNvSpPr/>
          <p:nvPr/>
        </p:nvSpPr>
        <p:spPr>
          <a:xfrm>
            <a:off x="9729216" y="1115568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9729216" y="1682496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9729216" y="2249424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96144" y="548640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1115568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6144" y="1682496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96144" y="2249424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63072" y="548640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63072" y="1115568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63072" y="1682496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63072" y="2249424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548640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0" y="1115568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1682496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0" y="2249424"/>
            <a:ext cx="54864" cy="54864"/>
          </a:xfrm>
          <a:prstGeom prst="ellipse">
            <a:avLst/>
          </a:prstGeom>
          <a:solidFill>
            <a:srgbClr val="2A3F63"/>
          </a:solidFill>
          <a:ln/>
        </p:spPr>
      </p:sp>
      <p:pic>
        <p:nvPicPr>
          <p:cNvPr id="26" name="Image 0" descr="icons/map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2801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INNOVATION CHALLENGE · DIGITAL PUBLIC GOOD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22860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CivicPulse</a:t>
            </a:r>
            <a:endParaRPr lang="en-US" sz="72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37033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scattered citizen voices into a national infrastructure priority list — with the evidence to back every recommendation.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2A3F6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multilingual AI platform for citizen-aligned public infrastructure planning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Governments can’t hear their citizens clearly enough to spend wisely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omment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328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3317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channels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6974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arrive via helplines, apps, social media, and paper forms — none of it talks to the others.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210312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5328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23317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data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6974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feedback is never joined with census, infrastructure, or budget data, so need and spend drift apart.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balanc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4988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297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objective ranking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663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loudest or most-connected area often gets funded first — not the one with the greatest measured need.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406908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4988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297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accountability loop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4663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request is filed, citizens have no way to see whether it led to action or measurable impact.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listen, connect the dots, and recommend — with proof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C1B3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560320"/>
            <a:ext cx="822960" cy="822960"/>
          </a:xfrm>
          <a:prstGeom prst="ellipse">
            <a:avLst/>
          </a:prstGeom>
          <a:solidFill>
            <a:srgbClr val="1D3357"/>
          </a:solidFill>
          <a:ln/>
        </p:spPr>
      </p:sp>
      <p:pic>
        <p:nvPicPr>
          <p:cNvPr id="6" name="Image 0" descr="icons/mic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27249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text &amp; messaging apps capture requests in any language, on any device — including feature phones.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081528" y="3611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1E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91840" y="21945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C1B3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37660" y="2560320"/>
            <a:ext cx="822960" cy="822960"/>
          </a:xfrm>
          <a:prstGeom prst="ellipse">
            <a:avLst/>
          </a:prstGeom>
          <a:solidFill>
            <a:srgbClr val="1D3357"/>
          </a:solidFill>
          <a:ln/>
        </p:spPr>
      </p:sp>
      <p:pic>
        <p:nvPicPr>
          <p:cNvPr id="13" name="Image 1" descr="icons/databas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252" y="272491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3566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fused with census, infrastructure-index, and budget data at the ward/district level.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824728" y="3611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1E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35040" y="21945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C1B3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80860" y="2560320"/>
            <a:ext cx="822960" cy="822960"/>
          </a:xfrm>
          <a:prstGeom prst="ellipse">
            <a:avLst/>
          </a:prstGeom>
          <a:solidFill>
            <a:srgbClr val="1D3357"/>
          </a:solidFill>
          <a:ln/>
        </p:spPr>
      </p:sp>
      <p:pic>
        <p:nvPicPr>
          <p:cNvPr id="20" name="Image 2" descr="icons/chartlin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2724912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722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035040" y="3566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auditable score ranks unmet need — not the loudest voice.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567928" y="3611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71E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778240" y="21945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C1B3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624060" y="2560320"/>
            <a:ext cx="822960" cy="822960"/>
          </a:xfrm>
          <a:prstGeom prst="ellipse">
            <a:avLst/>
          </a:prstGeom>
          <a:solidFill>
            <a:srgbClr val="1D3357"/>
          </a:solidFill>
          <a:ln/>
        </p:spPr>
      </p:sp>
      <p:pic>
        <p:nvPicPr>
          <p:cNvPr id="27" name="Image 3" descr="icons/ey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652" y="2724912"/>
            <a:ext cx="493776" cy="49377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154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8778240" y="3566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loop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900684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track status; officials see whether funded projects actually closed the gap.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accountable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E8EE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73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0391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Omnichannel Ingestion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8013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IVR voice · SMS/USSD · Web — Whisper ASR + multilingual NLU normalizes every request into a common schema.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7432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871E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08610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3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2415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4592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2278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Fusion &amp; Enrichment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299008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requests with census, infrastructure indices, and public investment plans; geospatial clustering surfaces hotspots.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3931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871E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06908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E8EE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27482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0" name="Image 2" descr="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302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4592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645920" y="44165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Prioritization Engine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4178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weighted score — need, population, infra gap, urgency, equity — auditable by design, not a black box.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914400" y="51206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871E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525780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7240" y="546354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7" name="Image 3" descr="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61898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45920" y="5349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645920" y="56052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Policymaker Dashboard + Public Tracker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4754880" y="536752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evidence-backed recommendations for officials; live status tracking for citizens.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citizens where they already are — no new app to learn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73936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928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1907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1719072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 notes or photos to a public number — no install needed; highest reach across BRICS nations.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642616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1" name="Image 1" descr="icons/mi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6148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58775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IVR Voice Hotline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2587752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Toll-free call, speak after the beep in any language — built for low-literacy &amp; non-smartphone users.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511296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301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45643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/ USSD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931920" y="3456432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*123# banking codes on any feature phone, no internet or data plan required.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379976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3" descr="icons/gl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4988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32511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Form / PWA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3931920" y="4325112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browser form for smartphone &amp; urban users — no app install.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206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5248656"/>
            <a:ext cx="493776" cy="493776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6" name="Image 4" descr="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36752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519379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Assisted / Offline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931920" y="5193792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workers &amp; NGO volunteers submit on behalf of citizens who can’t self-report — modeled on ASHA / census outreach.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feeds one pipeline: speech-to-text → translation → intent extraction → duplicate clustering → common schema.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 BE TRUSTED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score — not a black box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translation &amp; clustering. A fixed, published formula makes the funding decision — so officials and citizens can both see exactly why an area was ranked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C1B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volume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697480"/>
            <a:ext cx="2011680" cy="20116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5146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C1B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2783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affected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3410712"/>
            <a:ext cx="1149531" cy="20116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322783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C1B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4106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gap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4123944"/>
            <a:ext cx="1724297" cy="20116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394106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54296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C1B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5429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urgency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4837176"/>
            <a:ext cx="862149" cy="20116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46542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26680" y="155448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 3 — Industrial Belt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</a:t>
            </a:r>
            <a:endParaRPr lang="en-US" sz="52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/ 100</a:t>
            </a:r>
            <a:endParaRPr lang="en-US" sz="1100" dirty="0"/>
          </a:p>
        </p:txBody>
      </p:sp>
      <p:pic>
        <p:nvPicPr>
          <p:cNvPr id="26" name="Image 0" descr="icons/che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813048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348472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citizen complaints (highest volume)</a:t>
            </a:r>
            <a:endParaRPr lang="en-US" sz="1150" dirty="0"/>
          </a:p>
        </p:txBody>
      </p:sp>
      <p:pic>
        <p:nvPicPr>
          <p:cNvPr id="28" name="Image 1" descr="icons/check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197096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348472" y="4178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index 28/100 (largest gap)</a:t>
            </a:r>
            <a:endParaRPr lang="en-US" sz="1150" dirty="0"/>
          </a:p>
        </p:txBody>
      </p:sp>
      <p:pic>
        <p:nvPicPr>
          <p:cNvPr id="30" name="Image 2" descr="icons/che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81144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348472" y="45628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92,000 residents affected</a:t>
            </a:r>
            <a:endParaRPr lang="en-US" sz="1150" dirty="0"/>
          </a:p>
        </p:txBody>
      </p:sp>
      <p:pic>
        <p:nvPicPr>
          <p:cNvPr id="32" name="Image 3" descr="icons/check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965192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348472" y="49469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urgency 5.9/10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citizen report to policymaker action —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572000"/>
          </a:xfrm>
          <a:prstGeom prst="roundRect">
            <a:avLst>
              <a:gd name="adj" fmla="val 1600"/>
            </a:avLst>
          </a:prstGeom>
          <a:solidFill>
            <a:srgbClr val="0C1B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6949440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5623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56232"/>
            <a:ext cx="128016" cy="128016"/>
          </a:xfrm>
          <a:prstGeom prst="ellipse">
            <a:avLst/>
          </a:prstGeom>
          <a:solidFill>
            <a:srgbClr val="3A4E70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56232"/>
            <a:ext cx="128016" cy="128016"/>
          </a:xfrm>
          <a:prstGeom prst="ellipse">
            <a:avLst/>
          </a:prstGeom>
          <a:solidFill>
            <a:srgbClr val="3A4E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4592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6400800" cy="1965960"/>
          </a:xfrm>
          <a:prstGeom prst="roundRect">
            <a:avLst>
              <a:gd name="adj" fmla="val 2326"/>
            </a:avLst>
          </a:prstGeom>
          <a:solidFill>
            <a:srgbClr val="1A2E52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2916936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3063240"/>
            <a:ext cx="91440" cy="91440"/>
          </a:xfrm>
          <a:prstGeom prst="ellipse">
            <a:avLst/>
          </a:prstGeom>
          <a:solidFill>
            <a:srgbClr val="F2C18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2880360"/>
            <a:ext cx="182880" cy="1828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3136392"/>
            <a:ext cx="73152" cy="73152"/>
          </a:xfrm>
          <a:prstGeom prst="ellipse">
            <a:avLst/>
          </a:prstGeom>
          <a:solidFill>
            <a:srgbClr val="F2C185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2953512"/>
            <a:ext cx="109728" cy="109728"/>
          </a:xfrm>
          <a:prstGeom prst="ellipse">
            <a:avLst/>
          </a:prstGeom>
          <a:solidFill>
            <a:srgbClr val="F2C18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3099816"/>
            <a:ext cx="64008" cy="6400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0" descr="icons/map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514600"/>
            <a:ext cx="365760" cy="365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4480560"/>
            <a:ext cx="6400800" cy="502920"/>
          </a:xfrm>
          <a:prstGeom prst="roundRect">
            <a:avLst>
              <a:gd name="adj" fmla="val 9091"/>
            </a:avLst>
          </a:prstGeom>
          <a:solidFill>
            <a:srgbClr val="1A2E5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4480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480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3 — Industrial Belt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480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5102352"/>
            <a:ext cx="6400800" cy="502920"/>
          </a:xfrm>
          <a:prstGeom prst="roundRect">
            <a:avLst>
              <a:gd name="adj" fmla="val 9091"/>
            </a:avLst>
          </a:prstGeom>
          <a:solidFill>
            <a:srgbClr val="1A2E5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5840" y="510235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51023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1 — Old Town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510235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5724144"/>
            <a:ext cx="6400800" cy="502920"/>
          </a:xfrm>
          <a:prstGeom prst="roundRect">
            <a:avLst>
              <a:gd name="adj" fmla="val 9091"/>
            </a:avLst>
          </a:prstGeom>
          <a:solidFill>
            <a:srgbClr val="1A2E5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05840" y="572414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57241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8 — Hillside Slums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09360" y="572414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</a:t>
            </a:r>
            <a:endParaRPr lang="en-US" sz="1200" dirty="0"/>
          </a:p>
        </p:txBody>
      </p:sp>
      <p:pic>
        <p:nvPicPr>
          <p:cNvPr id="30" name="Image 1" descr="icons/mi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3736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36676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reports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8366760" y="20299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WhatsApp, IVR, SMS or web, in their own language</a:t>
            </a:r>
            <a:endParaRPr lang="en-US" sz="1100" dirty="0"/>
          </a:p>
        </p:txBody>
      </p:sp>
      <p:pic>
        <p:nvPicPr>
          <p:cNvPr id="33" name="Image 2" descr="icons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4320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36676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scores it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8366760" y="30358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re-ranks all wards as new reports arrive</a:t>
            </a:r>
            <a:endParaRPr lang="en-US" sz="1100" dirty="0"/>
          </a:p>
        </p:txBody>
      </p:sp>
      <p:pic>
        <p:nvPicPr>
          <p:cNvPr id="36" name="Image 3" descr="icon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749040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366760" y="3703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is tracked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8366760" y="40416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sees Received → Reviewed → Funded → Resolved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DIGITAL PUBLIC GOOD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be adopted, not just admired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E8EEF7"/>
          </a:solidFill>
          <a:ln/>
        </p:spPr>
      </p:sp>
      <p:pic>
        <p:nvPicPr>
          <p:cNvPr id="6" name="Image 0" descr="icons/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328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3317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&amp; interoperable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6974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with open APIs — plugs into any nation’s existing e-governance stack.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210312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377440"/>
            <a:ext cx="640080" cy="640080"/>
          </a:xfrm>
          <a:prstGeom prst="ellipse">
            <a:avLst/>
          </a:prstGeom>
          <a:solidFill>
            <a:srgbClr val="E8EEF7"/>
          </a:solidFill>
          <a:ln/>
        </p:spPr>
      </p:sp>
      <p:pic>
        <p:nvPicPr>
          <p:cNvPr id="11" name="Image 1" descr="icons/mobi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5328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23317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Low-bandwidth first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6974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over SMS/USSD and voice, not just smartphone apps — reaches rural and low-connectivity regions.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E8EEF7"/>
          </a:solidFill>
          <a:ln/>
        </p:spPr>
      </p:sp>
      <p:pic>
        <p:nvPicPr>
          <p:cNvPr id="16" name="Image 2" descr="icons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4988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297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663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nation hosts its own instance; only anonymized patterns are optionally shared for cross-BRICS benchmarking.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406908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4343400"/>
            <a:ext cx="640080" cy="640080"/>
          </a:xfrm>
          <a:prstGeom prst="ellipse">
            <a:avLst/>
          </a:prstGeom>
          <a:solidFill>
            <a:srgbClr val="E8EEF7"/>
          </a:solidFill>
          <a:ln/>
        </p:spPr>
      </p:sp>
      <p:pic>
        <p:nvPicPr>
          <p:cNvPr id="21" name="Image 3" descr="icons/balan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4988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297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design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4663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prioritization formula is published and fixed — no black-box AI deciding public spending.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every BRICS nation’s languages and geographies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C1B3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founding nations, expandable to BRICS+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C1B3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926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languages &amp; dialects addressable via ASR + LLM translation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C1B3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926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required for SMS/USSD/IVR channels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grow with scale:</a:t>
            </a:r>
            <a:endParaRPr lang="en-US" sz="1500" dirty="0"/>
          </a:p>
        </p:txBody>
      </p:sp>
      <p:pic>
        <p:nvPicPr>
          <p:cNvPr id="14" name="Image 0" descr="icons/che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53128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68680" y="44348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indexing (H3 grids) keeps hotspot detection fast at national scale</a:t>
            </a:r>
            <a:endParaRPr lang="en-US" sz="1250" dirty="0"/>
          </a:p>
        </p:txBody>
      </p:sp>
      <p:pic>
        <p:nvPicPr>
          <p:cNvPr id="16" name="Image 1" descr="icons/check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9204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68680" y="487375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ingestion absorbs traffic spikes across millions of citizens</a:t>
            </a:r>
            <a:endParaRPr lang="en-US" sz="1250" dirty="0"/>
          </a:p>
        </p:txBody>
      </p:sp>
      <p:pic>
        <p:nvPicPr>
          <p:cNvPr id="18" name="Image 2" descr="icons/che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3095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8680" y="5312664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clustering merges duplicate reports before they hit the scoring engine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handshak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connect citizens to the budgets meant for them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— a working prototype, ready to pilot in any BRICS region.</a:t>
            </a:r>
            <a:endParaRPr lang="en-US" sz="1600" dirty="0"/>
          </a:p>
        </p:txBody>
      </p:sp>
      <p:pic>
        <p:nvPicPr>
          <p:cNvPr id="5" name="Image 1" descr="icons/rocke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15968"/>
            <a:ext cx="201168" cy="2011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4297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 district or ward</a:t>
            </a:r>
            <a:endParaRPr lang="en-US" sz="1300" dirty="0"/>
          </a:p>
        </p:txBody>
      </p:sp>
      <p:pic>
        <p:nvPicPr>
          <p:cNvPr id="7" name="Image 2" descr="icons/rocke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73168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real infrastructure &amp; budget datasets</a:t>
            </a:r>
            <a:endParaRPr lang="en-US" sz="1300" dirty="0"/>
          </a:p>
        </p:txBody>
      </p:sp>
      <p:pic>
        <p:nvPicPr>
          <p:cNvPr id="9" name="Image 3" descr="icons/rocke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3036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60120" y="5212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policymakers on the scoring weights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12700">
            <a:solidFill>
              <a:srgbClr val="2A3F6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Built for the BRICS Innovation Challenge — Digital Public Infrastructure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2026-09-27T17:29:57Z</dcterms:created>
  <dcterms:modified xsi:type="dcterms:W3CDTF">2026-09-27T17:29:58Z</dcterms:modified>
</cp:coreProperties>
</file>